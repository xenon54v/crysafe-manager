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453cc9ffc246ab" /><Relationship Type="http://schemas.openxmlformats.org/officeDocument/2006/relationships/extended-properties" Target="/docProps/app.xml" Id="Rf01ac9a0b3c64938" /><Relationship Type="http://schemas.openxmlformats.org/officeDocument/2006/relationships/officeDocument" Target="/ppt/presentation.xml" Id="R3b369545f07d4b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b1ac779698412d"/>
  </p:sldMasterIdLst>
  <p:notesMasterIdLst>
    <p:notesMasterId xmlns:r="http://schemas.openxmlformats.org/officeDocument/2006/relationships" r:id="R96b476a829c44b3f"/>
  </p:notesMasterIdLst>
  <p:sldIdLst>
    <p:sldId xmlns:r="http://schemas.openxmlformats.org/officeDocument/2006/relationships" id="256" r:id="R2158f15d1d4b46f6"/>
    <p:sldId xmlns:r="http://schemas.openxmlformats.org/officeDocument/2006/relationships" id="257" r:id="R83344616f6fb4f02"/>
    <p:sldId xmlns:r="http://schemas.openxmlformats.org/officeDocument/2006/relationships" id="258" r:id="Raab21886998a4252"/>
    <p:sldId xmlns:r="http://schemas.openxmlformats.org/officeDocument/2006/relationships" id="259" r:id="R31b8c76d2076480e"/>
    <p:sldId xmlns:r="http://schemas.openxmlformats.org/officeDocument/2006/relationships" id="260" r:id="R89e7e6e270334115"/>
    <p:sldId xmlns:r="http://schemas.openxmlformats.org/officeDocument/2006/relationships" id="261" r:id="R0900b77e9d4141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89a8cce1f64158" /><Relationship Type="http://schemas.openxmlformats.org/officeDocument/2006/relationships/slideMaster" Target="/ppt/slideMasters/slideMaster1.xml" Id="Ra4b1ac779698412d" /><Relationship Type="http://schemas.openxmlformats.org/officeDocument/2006/relationships/notesMaster" Target="/ppt/notesMasters/notesMaster1.xml" Id="R96b476a829c44b3f" /><Relationship Type="http://schemas.openxmlformats.org/officeDocument/2006/relationships/presProps" Target="/ppt/presProps.xml" Id="R726a78ea94514fbc" /><Relationship Type="http://schemas.openxmlformats.org/officeDocument/2006/relationships/tableStyles" Target="/ppt/tableStyles.xml" Id="Rdc27b8d266cc42a8" /><Relationship Type="http://schemas.openxmlformats.org/officeDocument/2006/relationships/slide" Target="/ppt/slides/slide1.xml" Id="R2158f15d1d4b46f6" /><Relationship Type="http://schemas.openxmlformats.org/officeDocument/2006/relationships/slide" Target="/ppt/slides/slide2.xml" Id="R83344616f6fb4f02" /><Relationship Type="http://schemas.openxmlformats.org/officeDocument/2006/relationships/slide" Target="/ppt/slides/slide3.xml" Id="Raab21886998a4252" /><Relationship Type="http://schemas.openxmlformats.org/officeDocument/2006/relationships/slide" Target="/ppt/slides/slide4.xml" Id="R31b8c76d2076480e" /><Relationship Type="http://schemas.openxmlformats.org/officeDocument/2006/relationships/slide" Target="/ppt/slides/slide5.xml" Id="R89e7e6e270334115" /><Relationship Type="http://schemas.openxmlformats.org/officeDocument/2006/relationships/slide" Target="/ppt/slides/slide6.xml" Id="R0900b77e9d4141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2b3ca4795d4a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1c7906b6774744" /><Relationship Type="http://schemas.openxmlformats.org/officeDocument/2006/relationships/notesMaster" Target="/ppt/notesMasters/notesMaster1.xml" Id="Ra9b2c2e2d5c343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add147a9f846a3" /><Relationship Type="http://schemas.openxmlformats.org/officeDocument/2006/relationships/notesMaster" Target="/ppt/notesMasters/notesMaster1.xml" Id="R35279d97b9d947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938b95dd0a455b" /><Relationship Type="http://schemas.openxmlformats.org/officeDocument/2006/relationships/notesMaster" Target="/ppt/notesMasters/notesMaster1.xml" Id="Rcaf44e3efdee4a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ef5b246ad54bc2" /><Relationship Type="http://schemas.openxmlformats.org/officeDocument/2006/relationships/notesMaster" Target="/ppt/notesMasters/notesMaster1.xml" Id="R7fa2f6fe852b49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7e73a278364d36" /><Relationship Type="http://schemas.openxmlformats.org/officeDocument/2006/relationships/notesMaster" Target="/ppt/notesMasters/notesMaster1.xml" Id="Rc59dfa0165884f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b3941ba2a8437a" /><Relationship Type="http://schemas.openxmlformats.org/officeDocument/2006/relationships/notesMaster" Target="/ppt/notesMasters/notesMaster1.xml" Id="R87028af16f1e4b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0:00–0:30. Представить цель: локальный менеджер паролей, который объединяет шифрование, настольный интерфейс, защищённый буфер, аудит и обмен данными. Уточнить, что Sprint 8 посвящён интеграции, проверке и поставке.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0:30–1:30. Пояснить границы слоёв и отсутствие обратного импорта из ядра в GUI. Разделить проверку пароля и ключ шифрования. Отметить уникальный nonce, доменное разделение ключей и подписанный аудит.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1:30–2:30. Для буфера отметить проверку change token и очистку на всех путях жизненного цикла. Для обмена объяснить preview, проверку целостности и rollback. Для памяти честно обозначить, что защита снижает риск, но не заменяет аппаратную и системную политику.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2:30–3:30. Запустить подготовленное видео или показать три отмеченных фрагмента: первичная настройка и запись, таймер буфера, затем panic mode. Не вводить реальные пароли и не использовать live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3:30–4:15. Назвать фактические результаты последнего прогона. Пояснить область покрытия: core и database. Отметить отдельные тесты криптографии, транзакций, буфера, обмена, целостности аудита и упаковки.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4:15–5:00. Завершить двумя выводами: безопасность определяется связью криптографии и жизненного цикла интерфейса; ограничения Python и ОС нужно документировать честно. Кратко назвать браузерное расширение, TOTP, синхронизацию и подписанные установщики.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eff85d204242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79729549244e1d" /><Relationship Type="http://schemas.openxmlformats.org/officeDocument/2006/relationships/slideLayout" Target="/ppt/slideLayouts/slideLayout1.xml" Id="Rc605cccc722c4e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05cccc722c4e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85719d00a4512" /><Relationship Type="http://schemas.openxmlformats.org/officeDocument/2006/relationships/notesSlide" Target="/ppt/notesSlides/notesSlide1.xml" Id="R1d0663ad5fe447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caf05f6184c60" /><Relationship Type="http://schemas.openxmlformats.org/officeDocument/2006/relationships/notesSlide" Target="/ppt/notesSlides/notesSlide2.xml" Id="Rc32740d0d71842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be9e5b95442b4" /><Relationship Type="http://schemas.openxmlformats.org/officeDocument/2006/relationships/notesSlide" Target="/ppt/notesSlides/notesSlide3.xml" Id="R4c31f9ecfc244d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6355c6ca94782" /><Relationship Type="http://schemas.openxmlformats.org/officeDocument/2006/relationships/notesSlide" Target="/ppt/notesSlides/notesSlide4.xml" Id="Rc88f7428df0b4a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a254a7e1d4821" /><Relationship Type="http://schemas.openxmlformats.org/officeDocument/2006/relationships/notesSlide" Target="/ppt/notesSlides/notesSlide5.xml" Id="R57c0865eea3941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35e38f4ac4d35" /><Relationship Type="http://schemas.openxmlformats.org/officeDocument/2006/relationships/notesSlide" Target="/ppt/notesSlides/notesSlide6.xml" Id="Ra60c0bc41a8e4f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3D76F4-03DF-4338-91B4-08121460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1143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0E8EB-F1CE-44EC-B4FD-20FCA11B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200150"/>
            <a:ext cx="7239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3F4F6"/>
                </a:solidFill>
                <a:latin typeface="DejaVu Sans"/>
                <a:ea typeface="DejaVu Sans"/>
                <a:cs typeface="DejaVu Sans"/>
              </a:defRPr>
            </a:pPr>
            <a:r>
              <a:rPr sz="4950" b="1">
                <a:solidFill>
                  <a:srgbClr val="F3F4F6"/>
                </a:solidFill>
                <a:latin typeface="DejaVu Sans"/>
                <a:ea typeface="DejaVu Sans"/>
                <a:cs typeface="DejaVu Sans"/>
              </a:rPr>
              <a:t>CryptoSafe</a:t>
            </a:r>
          </a:p>
          <a:p xmlns:a="http://schemas.openxmlformats.org/drawingml/2006/main">
            <a:pPr algn="l">
              <a:defRPr sz="4950" b="1">
                <a:solidFill>
                  <a:srgbClr val="F3F4F6"/>
                </a:solidFill>
                <a:latin typeface="DejaVu Sans"/>
                <a:ea typeface="DejaVu Sans"/>
                <a:cs typeface="DejaVu Sans"/>
              </a:defRPr>
            </a:pPr>
            <a:r>
              <a:rPr sz="4950" b="1">
                <a:solidFill>
                  <a:srgbClr val="F3F4F6"/>
                </a:solidFill>
                <a:latin typeface="DejaVu Sans"/>
                <a:ea typeface="DejaVu Sans"/>
                <a:cs typeface="DejaVu Sans"/>
              </a:rPr>
              <a:t>Manager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92BF1C-C1ED-4B5B-815B-A42264B5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909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98CA3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D98CA3"/>
                </a:solidFill>
                <a:latin typeface="DejaVu Sans"/>
                <a:ea typeface="DejaVu Sans"/>
                <a:cs typeface="DejaVu Sans"/>
              </a:rPr>
              <a:t>Итоговая интеграция и выпуск · Sprint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D82B6-D74E-4B92-A744-7B0F0C78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1955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BBC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B7BBC2"/>
                </a:solidFill>
                <a:latin typeface="DejaVu Sans"/>
                <a:ea typeface="DejaVu Sans"/>
                <a:cs typeface="DejaVu Sans"/>
              </a:rPr>
              <a:t>Локальный менеджер паролей с шифрованием, GUI и защищённым буфером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D3BA25-8130-4587-846A-7557EB74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197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3F4F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3F4F6"/>
                </a:solidFill>
                <a:latin typeface="DejaVu Sans"/>
                <a:ea typeface="DejaVu Sans"/>
                <a:cs typeface="DejaVu Sans"/>
              </a:rPr>
              <a:t>Python 3.12  ·  AES-256-GCM  ·  Argon2id  ·  SQLite  ·  CustomTkinter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8EFDD8-20CE-40B7-9B49-7B703829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150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BBC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7BBC2"/>
                </a:solidFill>
                <a:latin typeface="DejaVu Sans"/>
                <a:ea typeface="DejaVu Sans"/>
                <a:cs typeface="DejaVu Sans"/>
              </a:rPr>
              <a:t>Репозиторий: github.com/xenon54v/crysafe-manager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E0F992-8668-422A-A9F6-82F3EFA9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753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7BBC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7BBC2"/>
                </a:solidFill>
                <a:latin typeface="DejaVu Sans"/>
                <a:ea typeface="DejaVu Sans"/>
                <a:cs typeface="DejaVu Sans"/>
              </a:rPr>
              <a:t>Команда проекта: xenon54v</a:t>
            </a:r>
          </a:p>
        </p:txBody>
      </p:sp>
    </p:spTree>
    <p:extLst>
      <p:ext uri="{BB962C8B-B14F-4D97-AF65-F5344CB8AC3E}">
        <p14:creationId xmlns:p14="http://schemas.microsoft.com/office/powerpoint/2010/main" val="16243960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2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571750" y="4333875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8CA3"/>
            </a:solidFill>
            <a:prstDash val="solid"/>
            <a:tailEnd type="arrow" w="med" len="med"/>
          </a:ln>
        </p:spPr>
      </p:cxnSp>
      <p:cxnSp>
        <p:nvCxnSpPr>
          <p:cNvPr id="33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571750" y="290512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8CA3"/>
            </a:solidFill>
            <a:prstDash val="solid"/>
            <a:tailEnd type="arrow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66891E-E9DD-444B-A638-4D0FF0F1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8CA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D98CA3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5A7EE1-03C7-4AC2-B0DB-F0F8DFFA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33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F4F6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3F4F6"/>
                </a:solidFill>
                <a:latin typeface="DejaVu Sans"/>
                <a:ea typeface="DejaVu Sans"/>
                <a:cs typeface="DejaVu Sans"/>
              </a:rPr>
              <a:t>Архитектура и криптография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228C4-E0BC-4924-93B9-0090A9A9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82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BBC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7BBC2"/>
                </a:solidFill>
                <a:latin typeface="DejaVu Sans"/>
                <a:ea typeface="DejaVu Sans"/>
                <a:cs typeface="DejaVu Sans"/>
              </a:rPr>
              <a:t>Зависимости направлены от интерфейса к ядру и данным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53C6D-0EF0-4FEA-8412-45AD0948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6963D0-85EA-45CC-89F8-0E72B0C3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8CA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D98CA3"/>
                </a:solidFill>
                <a:latin typeface="DejaVu Sans"/>
                <a:ea typeface="DejaVu Sans"/>
                <a:cs typeface="DejaVu Sans"/>
              </a:rPr>
              <a:t>Компоненты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3019C-9900-4C64-9BDA-D986211A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3429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9525">
            <a:solidFill>
              <a:srgbClr val="444444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3F4F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3F4F6"/>
                </a:solidFill>
                <a:latin typeface="DejaVu Sans"/>
                <a:ea typeface="DejaVu Sans"/>
                <a:cs typeface="DejaVu Sans"/>
              </a:rPr>
              <a:t>GUI</a:t>
            </a:r>
          </a:p>
          <a:p xmlns:a="http://schemas.openxmlformats.org/drawingml/2006/main">
            <a:pPr algn="ctr">
              <a:defRPr sz="1650" b="1">
                <a:solidFill>
                  <a:srgbClr val="F3F4F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3F4F6"/>
                </a:solidFill>
                <a:latin typeface="DejaVu Sans"/>
                <a:ea typeface="DejaVu Sans"/>
                <a:cs typeface="DejaVu Sans"/>
              </a:rPr>
              <a:t>окна и диалоги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849D0-E494-4362-9DAB-334DE825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3429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30252A"/>
          </a:solidFill>
          <a:ln xmlns:a="http://schemas.openxmlformats.org/drawingml/2006/main" w="9525">
            <a:solidFill>
              <a:srgbClr val="D98CA3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3F4F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3F4F6"/>
                </a:solidFill>
                <a:latin typeface="DejaVu Sans"/>
                <a:ea typeface="DejaVu Sans"/>
                <a:cs typeface="DejaVu Sans"/>
              </a:rPr>
              <a:t>Core</a:t>
            </a:r>
          </a:p>
          <a:p xmlns:a="http://schemas.openxmlformats.org/drawingml/2006/main">
            <a:pPr algn="ctr">
              <a:defRPr sz="1650" b="1">
                <a:solidFill>
                  <a:srgbClr val="F3F4F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3F4F6"/>
                </a:solidFill>
                <a:latin typeface="DejaVu Sans"/>
                <a:ea typeface="DejaVu Sans"/>
                <a:cs typeface="DejaVu Sans"/>
              </a:rPr>
              <a:t>vault · clipboard · audit · exchange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5A163D-4A6D-45EC-AF14-4EE4A994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3429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9525">
            <a:solidFill>
              <a:srgbClr val="444444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3F4F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3F4F6"/>
                </a:solidFill>
                <a:latin typeface="DejaVu Sans"/>
                <a:ea typeface="DejaVu Sans"/>
                <a:cs typeface="DejaVu Sans"/>
              </a:rPr>
              <a:t>SQLite и адаптеры ОС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55DB6C-F8D8-46F8-93D8-33E13713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430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8CA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D98CA3"/>
                </a:solidFill>
                <a:latin typeface="DejaVu Sans"/>
                <a:ea typeface="DejaVu Sans"/>
                <a:cs typeface="DejaVu Sans"/>
              </a:rPr>
              <a:t>Криптографический стек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62B33C-AD51-4523-898C-11A8BD6C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288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8CA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D98CA3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74807A-CE81-47C3-95E1-3095368A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2882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F4F6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3F4F6"/>
                </a:solidFill>
                <a:latin typeface="DejaVu Sans"/>
                <a:ea typeface="DejaVu Sans"/>
                <a:cs typeface="DejaVu Sans"/>
              </a:rPr>
              <a:t>Argon2id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6B9781-5B14-4594-BB57-739BBCB6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33625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BBC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7BBC2"/>
                </a:solidFill>
                <a:latin typeface="DejaVu Sans"/>
                <a:ea typeface="DejaVu Sans"/>
                <a:cs typeface="DejaVu Sans"/>
              </a:rPr>
              <a:t>проверка мастер-пароля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48A843-A02B-4648-8A69-C8F09A54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676525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473975-D230-4844-B412-2D4E891E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0987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8CA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D98CA3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90DAA4-C2CC-40CC-B442-E9629533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0987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F4F6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3F4F6"/>
                </a:solidFill>
                <a:latin typeface="DejaVu Sans"/>
                <a:ea typeface="DejaVu Sans"/>
                <a:cs typeface="DejaVu Sans"/>
              </a:rPr>
              <a:t>PBKDF2-HMAC-SHA256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D49523-1BD6-4C68-8026-47C9055B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14675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BBC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7BBC2"/>
                </a:solidFill>
                <a:latin typeface="DejaVu Sans"/>
                <a:ea typeface="DejaVu Sans"/>
                <a:cs typeface="DejaVu Sans"/>
              </a:rPr>
              <a:t>32-байтовый ключ шифрования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A79851-E271-4D2E-A51E-EC07478F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57575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2236EF-65DB-4F5C-9F8B-2D1E34E4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5909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8CA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D98CA3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98E444-4676-474C-8259-C99EAF9E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9092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F4F6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3F4F6"/>
                </a:solidFill>
                <a:latin typeface="DejaVu Sans"/>
                <a:ea typeface="DejaVu Sans"/>
                <a:cs typeface="DejaVu Sans"/>
              </a:rPr>
              <a:t>HKDF-SHA256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420697-40D1-4D06-9571-DDA4FB53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95725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BBC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7BBC2"/>
                </a:solidFill>
                <a:latin typeface="DejaVu Sans"/>
                <a:ea typeface="DejaVu Sans"/>
                <a:cs typeface="DejaVu Sans"/>
              </a:rPr>
              <a:t>разделение ключей по назначению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EA1BD6-D366-493D-845A-ABC02DDA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238625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06E771-0F4A-4C9F-BEE8-E554181C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37197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8CA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D98CA3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D05181-524A-4DAE-8541-3FA6EDC0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7197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F4F6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3F4F6"/>
                </a:solidFill>
                <a:latin typeface="DejaVu Sans"/>
                <a:ea typeface="DejaVu Sans"/>
                <a:cs typeface="DejaVu Sans"/>
              </a:rPr>
              <a:t>AES-256-GCM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12CA7C-F510-4E0D-BBE4-581C2969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76775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BBC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7BBC2"/>
                </a:solidFill>
                <a:latin typeface="DejaVu Sans"/>
                <a:ea typeface="DejaVu Sans"/>
                <a:cs typeface="DejaVu Sans"/>
              </a:rPr>
              <a:t>уникальный nonce на каждую операцию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D45A1F-6861-4EB4-B4FA-232DC246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019675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84002B-0579-4FEB-96CF-136DC827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1530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8CA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D98CA3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7E0EB6-2F0F-4597-979D-3C1A534A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5302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F4F6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3F4F6"/>
                </a:solidFill>
                <a:latin typeface="DejaVu Sans"/>
                <a:ea typeface="DejaVu Sans"/>
                <a:cs typeface="DejaVu Sans"/>
              </a:rPr>
              <a:t>Ed25519 + SHA-256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833840-AA59-4A06-A8C7-5339D2B2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457825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BBC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7BBC2"/>
                </a:solidFill>
                <a:latin typeface="DejaVu Sans"/>
                <a:ea typeface="DejaVu Sans"/>
                <a:cs typeface="DejaVu Sans"/>
              </a:rPr>
              <a:t>подписи и хеш-цепочка аудита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87C56F-F8D9-4E9B-B381-8658DE53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BBC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B7BBC2"/>
                </a:solidFill>
                <a:latin typeface="DejaVu Sans"/>
                <a:ea typeface="DejaVu Sans"/>
                <a:cs typeface="DejaVu Sans"/>
              </a:rPr>
              <a:t>xenon54v/crysafe-manager</a:t>
            </a:r>
          </a:p>
        </p:txBody>
      </p:sp>
    </p:spTree>
    <p:extLst>
      <p:ext uri="{BB962C8B-B14F-4D97-AF65-F5344CB8AC3E}">
        <p14:creationId xmlns:p14="http://schemas.microsoft.com/office/powerpoint/2010/main" val="11965064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F6E9F8-6AEB-4EAE-A4FD-4FBAC2CB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8CA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D98CA3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549AC3-8F48-43B4-8AB1-19E97FC1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33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F4F6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3F4F6"/>
                </a:solidFill>
                <a:latin typeface="DejaVu Sans"/>
                <a:ea typeface="DejaVu Sans"/>
                <a:cs typeface="DejaVu Sans"/>
              </a:rPr>
              <a:t>Ключевые задачи реализации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BEC3B-5158-464D-9D97-EEC1F7A2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82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BBC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7BBC2"/>
                </a:solidFill>
                <a:latin typeface="DejaVu Sans"/>
                <a:ea typeface="DejaVu Sans"/>
                <a:cs typeface="DejaVu Sans"/>
              </a:rPr>
              <a:t>Три места, где безопасность влияла на архитектуру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5A9E7B-D395-4E9D-830D-7B57DA28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564D64-4C7C-496A-AEB5-A7444151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98CA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D98CA3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099A2A-3E97-42E9-B2D5-A2352693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6573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3F4F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3F4F6"/>
                </a:solidFill>
                <a:latin typeface="DejaVu Sans"/>
                <a:ea typeface="DejaVu Sans"/>
                <a:cs typeface="DejaVu Sans"/>
              </a:rPr>
              <a:t>Защищённый буфер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522B57-F712-449A-A432-6540476A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3830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BBC2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B7BBC2"/>
                </a:solidFill>
                <a:latin typeface="DejaVu Sans"/>
                <a:ea typeface="DejaVu Sans"/>
                <a:cs typeface="DejaVu Sans"/>
              </a:rPr>
              <a:t>Платформенные адаптеры и монотонный таймер очищают секрет без удаления нового содержимого другого приложения.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66CBA-F8CF-476A-B344-C84D026A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820E3F-2929-4CF1-BCC5-6A850DE2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98CA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D98CA3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3B3171-1CFF-439C-AE60-F74978CD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813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3F4F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3F4F6"/>
                </a:solidFill>
                <a:latin typeface="DejaVu Sans"/>
                <a:ea typeface="DejaVu Sans"/>
                <a:cs typeface="DejaVu Sans"/>
              </a:rPr>
              <a:t>Безопасный импорт и экспорт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E3819C-822A-4C4D-917B-2A41E82F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16230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BBC2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B7BBC2"/>
                </a:solidFill>
                <a:latin typeface="DejaVu Sans"/>
                <a:ea typeface="DejaVu Sans"/>
                <a:cs typeface="DejaVu Sans"/>
              </a:rPr>
              <a:t>Предварительная проверка пакета, AES-GCM и транзакции предотвращают частичную запись и незаметную подмену.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C055A3-2D63-4307-8D99-B70AA981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B4F2A7-FAA7-460D-B791-FE50FEAA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98CA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D98CA3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8F36C5-ABE8-4329-ADA6-D5FCA47D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053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3F4F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3F4F6"/>
                </a:solidFill>
                <a:latin typeface="DejaVu Sans"/>
                <a:ea typeface="DejaVu Sans"/>
                <a:cs typeface="DejaVu Sans"/>
              </a:rPr>
              <a:t>Побочные каналы и память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07E772-DD07-427F-A491-F6985D83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68630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BBC2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B7BBC2"/>
                </a:solidFill>
                <a:latin typeface="DejaVu Sans"/>
                <a:ea typeface="DejaVu Sans"/>
                <a:cs typeface="DejaVu Sans"/>
              </a:rPr>
              <a:t>Фиксированное сравнение, полный проход поиска, mlock/VirtualLock и явное стирание уменьшают утечки.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F3E247-9AFB-43CB-B284-53E3FC5B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BBC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B7BBC2"/>
                </a:solidFill>
                <a:latin typeface="DejaVu Sans"/>
                <a:ea typeface="DejaVu Sans"/>
                <a:cs typeface="DejaVu Sans"/>
              </a:rPr>
              <a:t>xenon54v/crysafe-manager</a:t>
            </a:r>
          </a:p>
        </p:txBody>
      </p:sp>
    </p:spTree>
    <p:extLst>
      <p:ext uri="{BB962C8B-B14F-4D97-AF65-F5344CB8AC3E}">
        <p14:creationId xmlns:p14="http://schemas.microsoft.com/office/powerpoint/2010/main" val="430065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/>
          <p:cNvCxnSpPr>
            <a:stCxn xmlns:a="http://schemas.openxmlformats.org/drawingml/2006/main" id="8" idx="6"/>
            <a:endCxn xmlns:a="http://schemas.openxmlformats.org/drawingml/2006/main" id="11" idx="2"/>
          </p:cNvCxnSpPr>
          <p:nvPr/>
        </p:nvCxnSpPr>
        <p:spPr>
          <a:xfrm xmlns:a="http://schemas.openxmlformats.org/drawingml/2006/main">
            <a:off x="5829300" y="2771775"/>
            <a:ext cx="2838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44444"/>
            </a:solidFill>
            <a:prstDash val="solid"/>
            <a:tailEnd type="arrow" w="sm" len="sm"/>
          </a:ln>
        </p:spPr>
      </p:cxnSp>
      <p:cxnSp>
        <p:nvCxnSpPr>
          <p:cNvPr id="19" name=""/>
          <p:cNvCxnSpPr>
            <a:stCxn xmlns:a="http://schemas.openxmlformats.org/drawingml/2006/main" id="5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2114550" y="2771775"/>
            <a:ext cx="2838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44444"/>
            </a:solidFill>
            <a:prstDash val="solid"/>
            <a:tailEnd type="arrow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DA23A2-E1E5-4D3B-B653-21E3D85A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8CA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D98CA3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8FFF1-8030-4E2B-8816-20E438B7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33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F4F6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3F4F6"/>
                </a:solidFill>
                <a:latin typeface="DejaVu Sans"/>
                <a:ea typeface="DejaVu Sans"/>
                <a:cs typeface="DejaVu Sans"/>
              </a:rPr>
              <a:t>Сценарий демонстрации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95359-8FE6-4C17-B093-55CF04B4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82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BBC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7BBC2"/>
                </a:solidFill>
                <a:latin typeface="DejaVu Sans"/>
                <a:ea typeface="DejaVu Sans"/>
                <a:cs typeface="DejaVu Sans"/>
              </a:rPr>
              <a:t>Три заранее записанных фрагмента вместо рискованного live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877FB1-7DD9-467E-AD7A-A4694174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6BB762-4C03-4B4B-959C-E04F996D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33625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52A"/>
          </a:solidFill>
          <a:ln xmlns:a="http://schemas.openxmlformats.org/drawingml/2006/main" w="9525">
            <a:solidFill>
              <a:srgbClr val="D98CA3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3F4F6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3F4F6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7E1721-D0CA-4760-A4D1-2872D1A0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7662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8CA3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D98CA3"/>
                </a:solidFill>
                <a:latin typeface="DejaVu Sans"/>
                <a:ea typeface="DejaVu Sans"/>
                <a:cs typeface="DejaVu Sans"/>
              </a:rPr>
              <a:t>00:16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CC295E-A04E-4A20-9B6F-E1BB9A8A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9433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3F4F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3F4F6"/>
                </a:solidFill>
                <a:latin typeface="DejaVu Sans"/>
                <a:ea typeface="DejaVu Sans"/>
                <a:cs typeface="DejaVu Sans"/>
              </a:rPr>
              <a:t>Создание vault</a:t>
            </a:r>
          </a:p>
          <a:p xmlns:a="http://schemas.openxmlformats.org/drawingml/2006/main">
            <a:pPr algn="ctr">
              <a:defRPr sz="1725" b="1">
                <a:solidFill>
                  <a:srgbClr val="F3F4F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3F4F6"/>
                </a:solidFill>
                <a:latin typeface="DejaVu Sans"/>
                <a:ea typeface="DejaVu Sans"/>
                <a:cs typeface="DejaVu Sans"/>
              </a:rPr>
              <a:t>и новой записи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843BC1-1732-4549-AB33-66E000A3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33625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CA3"/>
          </a:solidFill>
          <a:ln xmlns:a="http://schemas.openxmlformats.org/drawingml/2006/main" w="9525">
            <a:solidFill>
              <a:srgbClr val="D98CA3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1717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71717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74EBF6-A42A-42E7-A658-205B0FCD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7662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8CA3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D98CA3"/>
                </a:solidFill>
                <a:latin typeface="DejaVu Sans"/>
                <a:ea typeface="DejaVu Sans"/>
                <a:cs typeface="DejaVu Sans"/>
              </a:rPr>
              <a:t>01:36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E51CB6-A486-4DE1-96F6-E4DACEAE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433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3F4F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3F4F6"/>
                </a:solidFill>
                <a:latin typeface="DejaVu Sans"/>
                <a:ea typeface="DejaVu Sans"/>
                <a:cs typeface="DejaVu Sans"/>
              </a:rPr>
              <a:t>Копирование</a:t>
            </a:r>
          </a:p>
          <a:p xmlns:a="http://schemas.openxmlformats.org/drawingml/2006/main">
            <a:pPr algn="ctr">
              <a:defRPr sz="1725" b="1">
                <a:solidFill>
                  <a:srgbClr val="F3F4F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3F4F6"/>
                </a:solidFill>
                <a:latin typeface="DejaVu Sans"/>
                <a:ea typeface="DejaVu Sans"/>
                <a:cs typeface="DejaVu Sans"/>
              </a:rPr>
              <a:t>и автоочистка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2C9E7B-5700-4328-BFE9-30AC3A58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33625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52A"/>
          </a:solidFill>
          <a:ln xmlns:a="http://schemas.openxmlformats.org/drawingml/2006/main" w="9525">
            <a:solidFill>
              <a:srgbClr val="D98CA3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3F4F6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3F4F6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1224F5-4639-451D-BFDA-9AB174F3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7662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8CA3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D98CA3"/>
                </a:solidFill>
                <a:latin typeface="DejaVu Sans"/>
                <a:ea typeface="DejaVu Sans"/>
                <a:cs typeface="DejaVu Sans"/>
              </a:rPr>
              <a:t>02:40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E2A4B2-203F-4DDD-9B62-C3E88BC1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433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3F4F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3F4F6"/>
                </a:solidFill>
                <a:latin typeface="DejaVu Sans"/>
                <a:ea typeface="DejaVu Sans"/>
                <a:cs typeface="DejaVu Sans"/>
              </a:rPr>
              <a:t>Panic mode</a:t>
            </a:r>
          </a:p>
          <a:p xmlns:a="http://schemas.openxmlformats.org/drawingml/2006/main">
            <a:pPr algn="ctr">
              <a:defRPr sz="1725" b="1">
                <a:solidFill>
                  <a:srgbClr val="F3F4F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3F4F6"/>
                </a:solidFill>
                <a:latin typeface="DejaVu Sans"/>
                <a:ea typeface="DejaVu Sans"/>
                <a:cs typeface="DejaVu Sans"/>
              </a:rPr>
              <a:t>и блокировка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B1B456-9D78-41BA-A22C-D175369E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72125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B7BBC2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B7BBC2"/>
                </a:solidFill>
                <a:latin typeface="DejaVu Sans"/>
                <a:ea typeface="DejaVu Sans"/>
                <a:cs typeface="DejaVu Sans"/>
              </a:rPr>
              <a:t>Полное видео: 03:12 · docs/CryptoSafe_Manager_Demo.mp4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0625A4-87FF-4F27-A342-6B1A656B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BBC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B7BBC2"/>
                </a:solidFill>
                <a:latin typeface="DejaVu Sans"/>
                <a:ea typeface="DejaVu Sans"/>
                <a:cs typeface="DejaVu Sans"/>
              </a:rPr>
              <a:t>xenon54v/crysafe-manager</a:t>
            </a:r>
          </a:p>
        </p:txBody>
      </p:sp>
    </p:spTree>
    <p:extLst>
      <p:ext uri="{BB962C8B-B14F-4D97-AF65-F5344CB8AC3E}">
        <p14:creationId xmlns:p14="http://schemas.microsoft.com/office/powerpoint/2010/main" val="10073364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9F405F-45EB-41EC-8ACC-C3C2CF8D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8CA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D98CA3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5C506-F057-4027-ADA2-5A617D41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33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F4F6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3F4F6"/>
                </a:solidFill>
                <a:latin typeface="DejaVu Sans"/>
                <a:ea typeface="DejaVu Sans"/>
                <a:cs typeface="DejaVu Sans"/>
              </a:rPr>
              <a:t>Тестирование и проверка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C91FA-830B-431C-A82C-AA51E3B9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82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BBC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7BBC2"/>
                </a:solidFill>
                <a:latin typeface="DejaVu Sans"/>
                <a:ea typeface="DejaVu Sans"/>
                <a:cs typeface="DejaVu Sans"/>
              </a:rPr>
              <a:t>pytest, pytest-cov и воспроизводимый HTML-отчёт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2CC8D-3120-4136-815F-C4B2B5C7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19380-BD37-4A95-A2E6-D4D74E71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D98CA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D98CA3"/>
                </a:solidFill>
                <a:latin typeface="DejaVu Sans"/>
                <a:ea typeface="DejaVu Sans"/>
                <a:cs typeface="DejaVu Sans"/>
              </a:rPr>
              <a:t>203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C75DCD-08BC-4D8C-B5A2-5A40F2A7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BBC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7BBC2"/>
                </a:solidFill>
                <a:latin typeface="DejaVu Sans"/>
                <a:ea typeface="DejaVu Sans"/>
                <a:cs typeface="DejaVu Sans"/>
              </a:rPr>
              <a:t>теста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9FB6F9-E8BA-42C4-9903-551DF41F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7145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4ADE80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4ADE80"/>
                </a:solidFill>
                <a:latin typeface="DejaVu Sans"/>
                <a:ea typeface="DejaVu Sans"/>
                <a:cs typeface="DejaVu Sans"/>
              </a:rPr>
              <a:t>80,4%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301DF9-1F58-4322-AF71-2D4210EF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3622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BBC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7BBC2"/>
                </a:solidFill>
                <a:latin typeface="DejaVu Sans"/>
                <a:ea typeface="DejaVu Sans"/>
                <a:cs typeface="DejaVu Sans"/>
              </a:rPr>
              <a:t>покрытие core + database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2DFFDD-454B-42A7-B817-E6467E00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145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D98CA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D98CA3"/>
                </a:solidFill>
                <a:latin typeface="DejaVu Sans"/>
                <a:ea typeface="DejaVu Sans"/>
                <a:cs typeface="DejaVu Sans"/>
              </a:rPr>
              <a:t>27,9 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86D811-0885-4271-BEC9-DEDDD82E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622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BBC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7BBC2"/>
                </a:solidFill>
                <a:latin typeface="DejaVu Sans"/>
                <a:ea typeface="DejaVu Sans"/>
                <a:cs typeface="DejaVu Sans"/>
              </a:rPr>
              <a:t>полный прогон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B221BF-2607-433D-86EE-86BB65C7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9F6F31-AB8C-43EA-8A6E-3EE2ACDE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6572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425">
                <a:solidFill>
                  <a:srgbClr val="F3F4F6"/>
                </a:solidFill>
                <a:latin typeface="DejaVu Sans"/>
                <a:ea typeface="DejaVu Sans"/>
                <a:cs typeface="DejaVu Sans"/>
              </a:defRPr>
            </a:pPr>
            <a:r>
              <a:rPr sz="1425">
                <a:solidFill>
                  <a:srgbClr val="F3F4F6"/>
                </a:solidFill>
                <a:latin typeface="DejaVu Sans"/>
                <a:ea typeface="DejaVu Sans"/>
                <a:cs typeface="DejaVu Sans"/>
              </a:rPr>
              <a:t>Криптография, CRUD, буфер, импорт и экспорт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425">
                <a:solidFill>
                  <a:srgbClr val="F3F4F6"/>
                </a:solidFill>
                <a:latin typeface="DejaVu Sans"/>
                <a:ea typeface="DejaVu Sans"/>
                <a:cs typeface="DejaVu Sans"/>
              </a:defRPr>
            </a:pPr>
            <a:r>
              <a:rPr sz="1425">
                <a:solidFill>
                  <a:srgbClr val="F3F4F6"/>
                </a:solidFill>
                <a:latin typeface="DejaVu Sans"/>
                <a:ea typeface="DejaVu Sans"/>
                <a:cs typeface="DejaVu Sans"/>
              </a:rPr>
              <a:t>Подмена аудита, конкурентность и 10 000 событий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425">
                <a:solidFill>
                  <a:srgbClr val="F3F4F6"/>
                </a:solidFill>
                <a:latin typeface="DejaVu Sans"/>
                <a:ea typeface="DejaVu Sans"/>
                <a:cs typeface="DejaVu Sans"/>
              </a:defRPr>
            </a:pPr>
            <a:r>
              <a:rPr sz="1425">
                <a:solidFill>
                  <a:srgbClr val="F3F4F6"/>
                </a:solidFill>
                <a:latin typeface="DejaVu Sans"/>
                <a:ea typeface="DejaVu Sans"/>
                <a:cs typeface="DejaVu Sans"/>
              </a:rPr>
              <a:t>Циклические импорты, TODO/FIXME и packaged health check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5C2841-08B5-44D4-9D0F-44A8B876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695450"/>
            <a:ext cx="3857625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44444"/>
            </a:solidFill>
            <a:prstDash val="solid"/>
          </a:ln>
        </p:spPr>
        <p:txBody>
          <a:bodyPr xmlns:a="http://schemas.openxmlformats.org/drawingml/2006/main" wrap="square" lIns="209550" tIns="209550" rIns="190500" bIns="2095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D1FA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>
                <a:solidFill>
                  <a:srgbClr val="D1FAE5"/>
                </a:solidFill>
                <a:latin typeface="DejaVu Sans Mono"/>
                <a:ea typeface="DejaVu Sans Mono"/>
                <a:cs typeface="DejaVu Sans Mono"/>
              </a:rPr>
              <a:t>encrypted = service.encrypt_entry(</a:t>
            </a:r>
          </a:p>
          <a:p xmlns:a="http://schemas.openxmlformats.org/drawingml/2006/main">
            <a:pPr algn="l">
              <a:defRPr sz="1275">
                <a:solidFill>
                  <a:srgbClr val="D1FA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>
                <a:solidFill>
                  <a:srgbClr val="D1FAE5"/>
                </a:solidFill>
                <a:latin typeface="DejaVu Sans Mono"/>
                <a:ea typeface="DejaVu Sans Mono"/>
                <a:cs typeface="DejaVu Sans Mono"/>
              </a:rPr>
              <a:t>    entry, keys</a:t>
            </a:r>
          </a:p>
          <a:p xmlns:a="http://schemas.openxmlformats.org/drawingml/2006/main">
            <a:pPr algn="l">
              <a:defRPr sz="1275">
                <a:solidFill>
                  <a:srgbClr val="D1FA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>
                <a:solidFill>
                  <a:srgbClr val="D1FAE5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pPr algn="l">
              <a:defRPr sz="1275">
                <a:solidFill>
                  <a:srgbClr val="D1FA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>
                <a:solidFill>
                  <a:srgbClr val="D1FAE5"/>
                </a:solidFill>
                <a:latin typeface="DejaVu Sans Mono"/>
                <a:ea typeface="DejaVu Sans Mono"/>
                <a:cs typeface="DejaVu Sans Mono"/>
              </a:rPr>
              <a:t>decrypted = service.decrypt_entry(</a:t>
            </a:r>
          </a:p>
          <a:p xmlns:a="http://schemas.openxmlformats.org/drawingml/2006/main">
            <a:pPr algn="l">
              <a:defRPr sz="1275">
                <a:solidFill>
                  <a:srgbClr val="D1FA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>
                <a:solidFill>
                  <a:srgbClr val="D1FAE5"/>
                </a:solidFill>
                <a:latin typeface="DejaVu Sans Mono"/>
                <a:ea typeface="DejaVu Sans Mono"/>
                <a:cs typeface="DejaVu Sans Mono"/>
              </a:rPr>
              <a:t>    encrypted, keys</a:t>
            </a:r>
          </a:p>
          <a:p xmlns:a="http://schemas.openxmlformats.org/drawingml/2006/main">
            <a:pPr algn="l">
              <a:defRPr sz="1275">
                <a:solidFill>
                  <a:srgbClr val="D1FA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>
                <a:solidFill>
                  <a:srgbClr val="D1FAE5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>
                <a:solidFill>
                  <a:srgbClr val="D1FA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>
                <a:solidFill>
                  <a:srgbClr val="D1FAE5"/>
                </a:solidFill>
                <a:latin typeface="DejaVu Sans Mono"/>
                <a:ea typeface="DejaVu Sans Mono"/>
                <a:cs typeface="DejaVu Sans Mono"/>
              </a:rPr>
              <a:t>assert decrypted["password"] == \</a:t>
            </a:r>
          </a:p>
          <a:p xmlns:a="http://schemas.openxmlformats.org/drawingml/2006/main">
            <a:pPr algn="l">
              <a:defRPr sz="1275">
                <a:solidFill>
                  <a:srgbClr val="D1FA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>
                <a:solidFill>
                  <a:srgbClr val="D1FAE5"/>
                </a:solidFill>
                <a:latin typeface="DejaVu Sans Mono"/>
                <a:ea typeface="DejaVu Sans Mono"/>
                <a:cs typeface="DejaVu Sans Mono"/>
              </a:rPr>
              <a:t>       entry["password"]</a:t>
            </a:r>
          </a:p>
          <a:p xmlns:a="http://schemas.openxmlformats.org/drawingml/2006/main">
            <a:pPr algn="l">
              <a:defRPr sz="1275">
                <a:solidFill>
                  <a:srgbClr val="D1FA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>
                <a:solidFill>
                  <a:srgbClr val="D1FAE5"/>
                </a:solidFill>
                <a:latin typeface="DejaVu Sans Mono"/>
                <a:ea typeface="DejaVu Sans Mono"/>
                <a:cs typeface="DejaVu Sans Mono"/>
              </a:rPr>
              <a:t>assert entry["password"].encode() \</a:t>
            </a:r>
          </a:p>
          <a:p xmlns:a="http://schemas.openxmlformats.org/drawingml/2006/main">
            <a:pPr algn="l">
              <a:defRPr sz="1275">
                <a:solidFill>
                  <a:srgbClr val="D1FA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>
                <a:solidFill>
                  <a:srgbClr val="D1FAE5"/>
                </a:solidFill>
                <a:latin typeface="DejaVu Sans Mono"/>
                <a:ea typeface="DejaVu Sans Mono"/>
                <a:cs typeface="DejaVu Sans Mono"/>
              </a:rPr>
              <a:t>       not in encrypted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F636DE-7769-4441-8151-8DC9F43B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1975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7BBC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B7BBC2"/>
                </a:solidFill>
                <a:latin typeface="DejaVu Sans"/>
                <a:ea typeface="DejaVu Sans"/>
                <a:cs typeface="DejaVu Sans"/>
              </a:rPr>
              <a:t>Фрагмент проверки AES-GCM round-trip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7E8A69-C5AA-4633-B33D-EE21AF54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BBC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B7BBC2"/>
                </a:solidFill>
                <a:latin typeface="DejaVu Sans"/>
                <a:ea typeface="DejaVu Sans"/>
                <a:cs typeface="DejaVu Sans"/>
              </a:rPr>
              <a:t>xenon54v/crysafe-manager</a:t>
            </a:r>
          </a:p>
        </p:txBody>
      </p:sp>
    </p:spTree>
    <p:extLst>
      <p:ext uri="{BB962C8B-B14F-4D97-AF65-F5344CB8AC3E}">
        <p14:creationId xmlns:p14="http://schemas.microsoft.com/office/powerpoint/2010/main" val="3997975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1655F5-11DF-46C5-B7CD-42DAFB42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8CA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D98CA3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4594FB-7430-466F-9604-7F295FD4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33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3F4F6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3F4F6"/>
                </a:solidFill>
                <a:latin typeface="DejaVu Sans"/>
                <a:ea typeface="DejaVu Sans"/>
                <a:cs typeface="DejaVu Sans"/>
              </a:rPr>
              <a:t>Выводы и развитие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35ABF6-DD77-41D3-AEB2-9B69F704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82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BBC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7BBC2"/>
                </a:solidFill>
                <a:latin typeface="DejaVu Sans"/>
                <a:ea typeface="DejaVu Sans"/>
                <a:cs typeface="DejaVu Sans"/>
              </a:rPr>
              <a:t>Итоговый результат и технические направления после Sprint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0EC73-094F-481A-A847-42E1F0BD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B8D68-6B58-468D-A697-A1977439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8CA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D98CA3"/>
                </a:solidFill>
                <a:latin typeface="DejaVu Sans"/>
                <a:ea typeface="DejaVu Sans"/>
                <a:cs typeface="DejaVu Sans"/>
              </a:rPr>
              <a:t>Что показал проект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C48DCE-6E5A-417D-93A8-593C0221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4667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500">
                <a:solidFill>
                  <a:srgbClr val="F3F4F6"/>
                </a:solidFill>
                <a:latin typeface="DejaVu Sans"/>
                <a:ea typeface="DejaVu Sans"/>
                <a:cs typeface="DejaVu Sans"/>
              </a:defRPr>
            </a:pPr>
            <a:r>
              <a:rPr sz="1500">
                <a:solidFill>
                  <a:srgbClr val="F3F4F6"/>
                </a:solidFill>
                <a:latin typeface="DejaVu Sans"/>
                <a:ea typeface="DejaVu Sans"/>
                <a:cs typeface="DejaVu Sans"/>
              </a:rPr>
              <a:t>Прикладная криптография требует строгого жизненного цикла ключей и ошибок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500">
                <a:solidFill>
                  <a:srgbClr val="F3F4F6"/>
                </a:solidFill>
                <a:latin typeface="DejaVu Sans"/>
                <a:ea typeface="DejaVu Sans"/>
                <a:cs typeface="DejaVu Sans"/>
              </a:defRPr>
            </a:pPr>
            <a:r>
              <a:rPr sz="1500">
                <a:solidFill>
                  <a:srgbClr val="F3F4F6"/>
                </a:solidFill>
                <a:latin typeface="DejaVu Sans"/>
                <a:ea typeface="DejaVu Sans"/>
                <a:cs typeface="DejaVu Sans"/>
              </a:rPr>
              <a:t>GUI должен блокировать и очищать данные на каждом пути завершения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500">
                <a:solidFill>
                  <a:srgbClr val="F3F4F6"/>
                </a:solidFill>
                <a:latin typeface="DejaVu Sans"/>
                <a:ea typeface="DejaVu Sans"/>
                <a:cs typeface="DejaVu Sans"/>
              </a:defRPr>
            </a:pPr>
            <a:r>
              <a:rPr sz="1500">
                <a:solidFill>
                  <a:srgbClr val="F3F4F6"/>
                </a:solidFill>
                <a:latin typeface="DejaVu Sans"/>
                <a:ea typeface="DejaVu Sans"/>
                <a:cs typeface="DejaVu Sans"/>
              </a:rPr>
              <a:t>Безопасность памяти и удобство приходится проверять вместе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EF234F-DD7A-4C42-8DB4-9EF19F10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95450"/>
            <a:ext cx="95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E7B7C-16CF-464A-BAE7-7B754005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8CA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D98CA3"/>
                </a:solidFill>
                <a:latin typeface="DejaVu Sans"/>
                <a:ea typeface="DejaVu Sans"/>
                <a:cs typeface="DejaVu Sans"/>
              </a:rPr>
              <a:t>Следующие версии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866D9A-3A6A-4BB2-AF3B-2A2AB48B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>
                <a:solidFill>
                  <a:srgbClr val="F3F4F6"/>
                </a:solidFill>
                <a:latin typeface="DejaVu Sans"/>
                <a:ea typeface="DejaVu Sans"/>
                <a:cs typeface="DejaVu Sans"/>
              </a:defRPr>
            </a:pPr>
            <a:r>
              <a:rPr sz="1500">
                <a:solidFill>
                  <a:srgbClr val="F3F4F6"/>
                </a:solidFill>
                <a:latin typeface="DejaVu Sans"/>
                <a:ea typeface="DejaVu Sans"/>
                <a:cs typeface="DejaVu Sans"/>
              </a:rPr>
              <a:t>Браузерное автозаполнение с локальным подтверждением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>
                <a:solidFill>
                  <a:srgbClr val="F3F4F6"/>
                </a:solidFill>
                <a:latin typeface="DejaVu Sans"/>
                <a:ea typeface="DejaVu Sans"/>
                <a:cs typeface="DejaVu Sans"/>
              </a:defRPr>
            </a:pPr>
            <a:r>
              <a:rPr sz="1500">
                <a:solidFill>
                  <a:srgbClr val="F3F4F6"/>
                </a:solidFill>
                <a:latin typeface="DejaVu Sans"/>
                <a:ea typeface="DejaVu Sans"/>
                <a:cs typeface="DejaVu Sans"/>
              </a:rPr>
              <a:t>TOTP и аппаратные ключи второго фактора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>
                <a:solidFill>
                  <a:srgbClr val="F3F4F6"/>
                </a:solidFill>
                <a:latin typeface="DejaVu Sans"/>
                <a:ea typeface="DejaVu Sans"/>
                <a:cs typeface="DejaVu Sans"/>
              </a:defRPr>
            </a:pPr>
            <a:r>
              <a:rPr sz="1500">
                <a:solidFill>
                  <a:srgbClr val="F3F4F6"/>
                </a:solidFill>
                <a:latin typeface="DejaVu Sans"/>
                <a:ea typeface="DejaVu Sans"/>
                <a:cs typeface="DejaVu Sans"/>
              </a:rPr>
              <a:t>Зашифрованная синхронизация доверенных устройств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>
                <a:solidFill>
                  <a:srgbClr val="F3F4F6"/>
                </a:solidFill>
                <a:latin typeface="DejaVu Sans"/>
                <a:ea typeface="DejaVu Sans"/>
                <a:cs typeface="DejaVu Sans"/>
              </a:defRPr>
            </a:pPr>
            <a:r>
              <a:rPr sz="1500">
                <a:solidFill>
                  <a:srgbClr val="F3F4F6"/>
                </a:solidFill>
                <a:latin typeface="DejaVu Sans"/>
                <a:ea typeface="DejaVu Sans"/>
                <a:cs typeface="DejaVu Sans"/>
              </a:rPr>
              <a:t>Подписанные установщики и полный GUI CI на трёх ОС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2BE19F-2D80-4DA5-8A73-98F14936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721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3F4F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3F4F6"/>
                </a:solidFill>
                <a:latin typeface="DejaVu Sans"/>
                <a:ea typeface="DejaVu Sans"/>
                <a:cs typeface="DejaVu Sans"/>
              </a:rPr>
              <a:t>github.com/xenon54v/crysafe-manager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58C3A0-899C-42FA-B86C-72386EFD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BBC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B7BBC2"/>
                </a:solidFill>
                <a:latin typeface="DejaVu Sans"/>
                <a:ea typeface="DejaVu Sans"/>
                <a:cs typeface="DejaVu Sans"/>
              </a:rPr>
              <a:t>CryptoSafe Manager · Final release</a:t>
            </a:r>
          </a:p>
        </p:txBody>
      </p:sp>
    </p:spTree>
    <p:extLst>
      <p:ext uri="{BB962C8B-B14F-4D97-AF65-F5344CB8AC3E}">
        <p14:creationId xmlns:p14="http://schemas.microsoft.com/office/powerpoint/2010/main" val="13045150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2026-09-27T15:41:33.7340000Z</dcterms:created>
  <dcterms:modified xsi:type="dcterms:W3CDTF">2026-09-27T15:41:33.7340000Z</dcterms:modified>
</coreProperties>
</file>